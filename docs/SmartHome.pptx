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 lang="en-US">
                <a:solidFill>
                  <a:srgbClr val="B25C3F"/>
                </a:solidFill>
                <a:latin typeface="Consolas"/>
              </a:rPr>
              <a:t>HACKATHON BUILD  -  IRON TITANS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1050919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6800" b="1" i="0" lang="en-US">
                <a:solidFill>
                  <a:srgbClr val="F1EAD7"/>
                </a:solidFill>
                <a:latin typeface="Georgia"/>
              </a:rPr>
              <a:t>SmartHome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91840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i="1" lang="en-US">
                <a:solidFill>
                  <a:srgbClr val="C7BEAA"/>
                </a:solidFill>
                <a:latin typeface="Calibri"/>
              </a:rPr>
              <a:t>The house is on the guest list. Control the lights, the fan and the front door by click, by type, or by voice - offline and free.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029200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 lang="en-US">
                <a:solidFill>
                  <a:srgbClr val="8A8270"/>
                </a:solidFill>
                <a:latin typeface="Consolas"/>
              </a:rPr>
              <a:t>Team  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400" b="1" i="0" lang="en-US">
                <a:solidFill>
                  <a:srgbClr val="F1EAD7"/>
                </a:solidFill>
                <a:latin typeface="Calibri"/>
              </a:rPr>
              <a:t>Pranjal  -  Samarpreet  -  Ekamjot  -  Amrit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532120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 i="0" lang="en-US">
                <a:solidFill>
                  <a:srgbClr val="8A8270"/>
                </a:solidFill>
                <a:latin typeface="Consolas"/>
              </a:rPr>
              <a:t>Python standard library  -  Vosk  -  Piper  -  vanilla 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01 / 59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737360"/>
            <a:ext cx="10509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600" b="1" i="0" lang="en-US">
                <a:solidFill>
                  <a:srgbClr val="F1EAD7"/>
                </a:solidFill>
                <a:latin typeface="Georgia"/>
              </a:rPr>
              <a:t>One page. Three ways 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880360"/>
            <a:ext cx="941191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100" b="0" i="0" lang="en-US">
                <a:solidFill>
                  <a:srgbClr val="F1EAD7"/>
                </a:solidFill>
                <a:latin typeface="Calibri"/>
              </a:rPr>
              <a:t>Tap a button, type a command, or just speak.  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100" b="0" i="0" lang="en-US">
                <a:solidFill>
                  <a:srgbClr val="C7BEAA"/>
                </a:solidFill>
                <a:latin typeface="Calibri"/>
              </a:rPr>
              <a:t>The recognizer, the reply voice and the logic all run on your own machine - no cloud, no API keys, no bill.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02 / 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What we'll walk 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03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900"/>
              </a:spcAft>
              <a:buClr>
                <a:srgbClr val="B25C3F"/>
              </a:buClr>
              <a:buFont typeface="Arial"/>
              <a:buChar char="▪"/>
            </a:pPr>
            <a:r>
              <a:rPr sz="1600" b="0">
                <a:solidFill>
                  <a:srgbClr val="2B271F"/>
                </a:solidFill>
                <a:latin typeface="Calibri"/>
              </a:rPr>
              <a:t>The problem - home control is scattered, voice assistants are rented</a:t>
            </a:r>
          </a:p>
          <a:p>
            <a:pPr>
              <a:lnSpc>
                <a:spcPct val="113000"/>
              </a:lnSpc>
              <a:spcAft>
                <a:spcPts val="900"/>
              </a:spcAft>
              <a:buClr>
                <a:srgbClr val="B25C3F"/>
              </a:buClr>
              <a:buFont typeface="Arial"/>
              <a:buChar char="▪"/>
            </a:pPr>
            <a:r>
              <a:rPr sz="1600" b="0">
                <a:solidFill>
                  <a:srgbClr val="2B271F"/>
                </a:solidFill>
                <a:latin typeface="Calibri"/>
              </a:rPr>
              <a:t>The build - one stdlib server, JSON for state, a browser front-end</a:t>
            </a:r>
          </a:p>
          <a:p>
            <a:pPr>
              <a:lnSpc>
                <a:spcPct val="113000"/>
              </a:lnSpc>
              <a:spcAft>
                <a:spcPts val="900"/>
              </a:spcAft>
              <a:buClr>
                <a:srgbClr val="B25C3F"/>
              </a:buClr>
              <a:buFont typeface="Arial"/>
              <a:buChar char="▪"/>
            </a:pPr>
            <a:r>
              <a:rPr sz="1600" b="0">
                <a:solidFill>
                  <a:srgbClr val="2B271F"/>
                </a:solidFill>
                <a:latin typeface="Calibri"/>
              </a:rPr>
              <a:t>Accounts - request, admin approval, scrambled passwords, lockout</a:t>
            </a:r>
          </a:p>
          <a:p>
            <a:pPr>
              <a:lnSpc>
                <a:spcPct val="113000"/>
              </a:lnSpc>
              <a:spcAft>
                <a:spcPts val="900"/>
              </a:spcAft>
              <a:buClr>
                <a:srgbClr val="B25C3F"/>
              </a:buClr>
              <a:buFont typeface="Arial"/>
              <a:buChar char="▪"/>
            </a:pPr>
            <a:r>
              <a:rPr sz="1600" b="0">
                <a:solidFill>
                  <a:srgbClr val="2B271F"/>
                </a:solidFill>
                <a:latin typeface="Calibri"/>
              </a:rPr>
              <a:t>The house - devices, activity log, and the intent parser</a:t>
            </a:r>
          </a:p>
          <a:p>
            <a:pPr>
              <a:lnSpc>
                <a:spcPct val="113000"/>
              </a:lnSpc>
              <a:spcAft>
                <a:spcPts val="900"/>
              </a:spcAft>
              <a:buClr>
                <a:srgbClr val="B25C3F"/>
              </a:buClr>
              <a:buFont typeface="Arial"/>
              <a:buChar char="▪"/>
            </a:pPr>
            <a:r>
              <a:rPr sz="1600" b="0">
                <a:solidFill>
                  <a:srgbClr val="2B271F"/>
                </a:solidFill>
                <a:latin typeface="Calibri"/>
              </a:rPr>
              <a:t>Voice - offline speech in (Vosk) and out (Piper), tuned for accuracy</a:t>
            </a:r>
          </a:p>
          <a:p>
            <a:pPr>
              <a:lnSpc>
                <a:spcPct val="113000"/>
              </a:lnSpc>
              <a:spcAft>
                <a:spcPts val="900"/>
              </a:spcAft>
              <a:buClr>
                <a:srgbClr val="B25C3F"/>
              </a:buClr>
              <a:buFont typeface="Arial"/>
              <a:buChar char="▪"/>
            </a:pPr>
            <a:r>
              <a:rPr sz="1600" b="0">
                <a:solidFill>
                  <a:srgbClr val="2B271F"/>
                </a:solidFill>
                <a:latin typeface="Calibri"/>
              </a:rPr>
              <a:t>The front-end - dashboard, dark mode, the listening pop-up</a:t>
            </a:r>
          </a:p>
          <a:p>
            <a:pPr>
              <a:lnSpc>
                <a:spcPct val="113000"/>
              </a:lnSpc>
              <a:spcAft>
                <a:spcPts val="900"/>
              </a:spcAft>
              <a:buClr>
                <a:srgbClr val="B25C3F"/>
              </a:buClr>
              <a:buFont typeface="Arial"/>
              <a:buChar char="▪"/>
            </a:pPr>
            <a:r>
              <a:rPr sz="1600" b="0">
                <a:solidFill>
                  <a:srgbClr val="2B271F"/>
                </a:solidFill>
                <a:latin typeface="Calibri"/>
              </a:rPr>
              <a:t>Quality - the self-test suite, what we fixed, what's left</a:t>
            </a:r>
          </a:p>
          <a:p>
            <a:pPr>
              <a:lnSpc>
                <a:spcPct val="113000"/>
              </a:lnSpc>
              <a:spcAft>
                <a:spcPts val="900"/>
              </a:spcAft>
              <a:buClr>
                <a:srgbClr val="B25C3F"/>
              </a:buClr>
              <a:buFont typeface="Arial"/>
              <a:buChar char="▪"/>
            </a:pPr>
            <a:r>
              <a:rPr sz="1600" b="0">
                <a:solidFill>
                  <a:srgbClr val="2B271F"/>
                </a:solidFill>
                <a:latin typeface="Calibri"/>
              </a:rPr>
              <a:t>Roadmap - real hardware, a wake word, multi-home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18288"/>
          </a:xfrm>
          <a:prstGeom prst="rect">
            <a:avLst/>
          </a:prstGeom>
          <a:solidFill>
            <a:srgbClr val="47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331720"/>
            <a:ext cx="548640" cy="91440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 lang="en-US">
                <a:solidFill>
                  <a:srgbClr val="B25C3F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10509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 lang="en-US">
                <a:solidFill>
                  <a:srgbClr val="F1EAD7"/>
                </a:solidFill>
                <a:latin typeface="Georgia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77639"/>
            <a:ext cx="1050919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1" lang="en-US">
                <a:solidFill>
                  <a:srgbClr val="B9B09C"/>
                </a:solidFill>
                <a:latin typeface="Calibri"/>
              </a:rPr>
              <a:t>Why build another home dashboard?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04 / 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Home control is fragmented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05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Every bulb, plug and lock ships its own app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Three rooms can mean four apps and four logins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No single 'what is on right now' view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Guests can't help - sharing means handing over an account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The simple ask - 'turn the light off' - takes six taps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Voice assistants are rented, not owned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06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The big assistants stream your microphone to a company server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That needs an internet connection just to hear 'lights off'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Free tiers have quotas; the good tiers cost money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Your commands - and your home's state - live on someone else's box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Offline hobby setups exist but are fiddly to stand 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07 /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The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One small web server (Python stdlib only)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A dashboard for light / fan / door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Admin-gated sign-up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Shared house state, live on every screen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7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The voice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Speech - text with Vosk, on-device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Text - speech with Piper, natural voice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Tuned to the command vocabulary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Falls back to the browser engine if models are absent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Four rules we held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08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4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Free - every dependency is open source, no keys, no quota</a:t>
            </a:r>
          </a:p>
          <a:p>
            <a:pPr>
              <a:lnSpc>
                <a:spcPct val="113000"/>
              </a:lnSpc>
              <a:spcAft>
                <a:spcPts val="14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Offline - after a one-time model download, nothing phones home</a:t>
            </a:r>
          </a:p>
          <a:p>
            <a:pPr>
              <a:lnSpc>
                <a:spcPct val="113000"/>
              </a:lnSpc>
              <a:spcAft>
                <a:spcPts val="14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Small - the core runs on the standard library; no framework, no database</a:t>
            </a:r>
          </a:p>
          <a:p>
            <a:pPr>
              <a:lnSpc>
                <a:spcPct val="113000"/>
              </a:lnSpc>
              <a:spcAft>
                <a:spcPts val="14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Safe by default - new accounts wait for an admin; passwords are scrambled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What you can actually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09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"turn on the light"  /  "switch off the fan"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"lock the door"  /  "open the door"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"turn on everything"  /  "turn everything off"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Type the same phrases, or use the device buttons and quick controls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Watch the activity log fill in - and the room go dark when the light is off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18288"/>
          </a:xfrm>
          <a:prstGeom prst="rect">
            <a:avLst/>
          </a:prstGeom>
          <a:solidFill>
            <a:srgbClr val="47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331720"/>
            <a:ext cx="548640" cy="91440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 lang="en-US">
                <a:solidFill>
                  <a:srgbClr val="B25C3F"/>
                </a:solidFill>
                <a:latin typeface="Consola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10509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 lang="en-US">
                <a:solidFill>
                  <a:srgbClr val="F1EAD7"/>
                </a:solidFill>
                <a:latin typeface="Georgia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77639"/>
            <a:ext cx="1050919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1" lang="en-US">
                <a:solidFill>
                  <a:srgbClr val="B9B09C"/>
                </a:solidFill>
                <a:latin typeface="Calibri"/>
              </a:rPr>
              <a:t>One server, some JSON files, a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10 / 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How the pieces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11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65960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2B271F"/>
                </a:solidFill>
                <a:latin typeface="Calibri"/>
              </a:rPr>
              <a:t>Browser
web/ - HTML, CSS, 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657600"/>
            <a:ext cx="2926080" cy="105156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2B271F"/>
                </a:solidFill>
                <a:latin typeface="Calibri"/>
              </a:rPr>
              <a:t>Microphone
MediaRecorder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965960"/>
            <a:ext cx="2743200" cy="2743200"/>
          </a:xfrm>
          <a:prstGeom prst="roundRect">
            <a:avLst>
              <a:gd name="adj" fmla="val 6000"/>
            </a:avLst>
          </a:prstGeom>
          <a:solidFill>
            <a:srgbClr val="313D2D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1EAD7"/>
                </a:solidFill>
                <a:latin typeface="Calibri"/>
              </a:rPr>
              <a:t>app.py
stdlib http.server
serves web/ + JSON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417320"/>
            <a:ext cx="2651760" cy="86868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71F"/>
                </a:solidFill>
                <a:latin typeface="Calibri"/>
              </a:rPr>
              <a:t>login2.py
signup.py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514600"/>
            <a:ext cx="2651760" cy="86868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71F"/>
                </a:solidFill>
                <a:latin typeface="Calibri"/>
              </a:rPr>
              <a:t>devices.py
intent.py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611880"/>
            <a:ext cx="2651760" cy="86868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71F"/>
                </a:solidFill>
                <a:latin typeface="Calibri"/>
              </a:rPr>
              <a:t>voice.py
Vosk + Piper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4709160"/>
            <a:ext cx="2651760" cy="73152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2B271F"/>
                </a:solidFill>
                <a:latin typeface="Calibri"/>
              </a:rPr>
              <a:t>data/*.json
users, house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67328" y="2468880"/>
            <a:ext cx="1170432" cy="274320"/>
          </a:xfrm>
          <a:prstGeom prst="line">
            <a:avLst/>
          </a:prstGeom>
          <a:ln w="2032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767328" y="3566160"/>
            <a:ext cx="1170432" cy="594360"/>
          </a:xfrm>
          <a:prstGeom prst="line">
            <a:avLst/>
          </a:prstGeom>
          <a:ln w="2032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680960" y="1828800"/>
            <a:ext cx="1005840" cy="822960"/>
          </a:xfrm>
          <a:prstGeom prst="line">
            <a:avLst/>
          </a:prstGeom>
          <a:ln w="2032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680960" y="2926080"/>
            <a:ext cx="1005840" cy="91440"/>
          </a:xfrm>
          <a:prstGeom prst="line">
            <a:avLst/>
          </a:prstGeom>
          <a:ln w="2032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680960" y="3566160"/>
            <a:ext cx="1005840" cy="457200"/>
          </a:xfrm>
          <a:prstGeom prst="line">
            <a:avLst/>
          </a:prstGeom>
          <a:ln w="2032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012680" y="4480560"/>
            <a:ext cx="0" cy="228600"/>
          </a:xfrm>
          <a:prstGeom prst="line">
            <a:avLst/>
          </a:prstGeom>
          <a:ln w="20320">
            <a:solidFill>
              <a:srgbClr val="6F68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" y="521208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1" lang="en-US">
                <a:solidFill>
                  <a:srgbClr val="6F6857"/>
                </a:solidFill>
                <a:latin typeface="Calibri"/>
              </a:rPr>
              <a:t>No framework. No ORM. No build step. Open the folder, run one 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The whole toolbox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12 /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1959342" cy="566928"/>
          </a:xfrm>
          <a:prstGeom prst="rect">
            <a:avLst/>
          </a:prstGeom>
          <a:solidFill>
            <a:srgbClr val="31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28800"/>
            <a:ext cx="17764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 lang="en-US">
                <a:solidFill>
                  <a:srgbClr val="F1EAD7"/>
                </a:solidFill>
                <a:latin typeface="Calibri"/>
              </a:rPr>
              <a:t>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0590" y="1828800"/>
            <a:ext cx="2849952" cy="566928"/>
          </a:xfrm>
          <a:prstGeom prst="rect">
            <a:avLst/>
          </a:prstGeom>
          <a:solidFill>
            <a:srgbClr val="31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0318" y="1828800"/>
            <a:ext cx="26670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 lang="en-US">
                <a:solidFill>
                  <a:srgbClr val="F1EAD7"/>
                </a:solidFill>
                <a:latin typeface="Calibri"/>
              </a:rPr>
              <a:t>Choice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50542" y="1828800"/>
            <a:ext cx="5699904" cy="566928"/>
          </a:xfrm>
          <a:prstGeom prst="rect">
            <a:avLst/>
          </a:prstGeom>
          <a:solidFill>
            <a:srgbClr val="31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270" y="1828800"/>
            <a:ext cx="5517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 lang="en-US">
                <a:solidFill>
                  <a:srgbClr val="F1EAD7"/>
                </a:solidFill>
                <a:latin typeface="Calibri"/>
              </a:rPr>
              <a:t>Why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395728"/>
            <a:ext cx="1959342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2395728"/>
            <a:ext cx="17764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0590" y="2395728"/>
            <a:ext cx="2849952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0318" y="2395728"/>
            <a:ext cx="26670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http.server (stdlib)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542" y="2395728"/>
            <a:ext cx="5699904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270" y="2395728"/>
            <a:ext cx="5517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Zero install, easy to read, enough for a demo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2962656"/>
            <a:ext cx="1959342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2962656"/>
            <a:ext cx="17764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0590" y="2962656"/>
            <a:ext cx="2849952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10318" y="2962656"/>
            <a:ext cx="26670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JSON files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50542" y="2962656"/>
            <a:ext cx="5699904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270" y="2962656"/>
            <a:ext cx="5517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Inspectable, diff-able, no DB to run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3529584"/>
            <a:ext cx="1959342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3529584"/>
            <a:ext cx="17764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Front-end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00590" y="3529584"/>
            <a:ext cx="2849952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10318" y="3529584"/>
            <a:ext cx="26670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Vanilla HTML/CSS/JS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50542" y="3529584"/>
            <a:ext cx="5699904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0270" y="3529584"/>
            <a:ext cx="5517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No build, no npm, loads instantly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" y="4096512"/>
            <a:ext cx="1959342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4096512"/>
            <a:ext cx="17764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STT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00590" y="4096512"/>
            <a:ext cx="2849952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10318" y="4096512"/>
            <a:ext cx="26670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Vosk (small EN model)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50542" y="4096512"/>
            <a:ext cx="5699904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270" y="4096512"/>
            <a:ext cx="5517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Offline, fast, ~40 MB, grammar 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4663440"/>
            <a:ext cx="1959342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4663440"/>
            <a:ext cx="17764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TTS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0590" y="4663440"/>
            <a:ext cx="2849952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10318" y="4663440"/>
            <a:ext cx="26670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Piper (neural)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50542" y="4663440"/>
            <a:ext cx="5699904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270" y="4663440"/>
            <a:ext cx="5517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Offline, natural voice, tiny + quick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" y="5230368"/>
            <a:ext cx="1959342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5230368"/>
            <a:ext cx="177646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Audio glue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0590" y="5230368"/>
            <a:ext cx="2849952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10318" y="5230368"/>
            <a:ext cx="2667072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ffmpeg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50542" y="5230368"/>
            <a:ext cx="5699904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60270" y="5230368"/>
            <a:ext cx="55170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Decodes the mic blob, shifts TTS pitch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Every file, one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13 /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2425199" cy="382385"/>
          </a:xfrm>
          <a:prstGeom prst="rect">
            <a:avLst/>
          </a:prstGeom>
          <a:solidFill>
            <a:srgbClr val="31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28800"/>
            <a:ext cx="22423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 lang="en-US">
                <a:solidFill>
                  <a:srgbClr val="F1EAD7"/>
                </a:solidFill>
                <a:latin typeface="Calibri"/>
              </a:rPr>
              <a:t>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6447" y="1828800"/>
            <a:ext cx="8083999" cy="382385"/>
          </a:xfrm>
          <a:prstGeom prst="rect">
            <a:avLst/>
          </a:prstGeom>
          <a:solidFill>
            <a:srgbClr val="31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6175" y="1828800"/>
            <a:ext cx="79011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 lang="en-US">
                <a:solidFill>
                  <a:srgbClr val="F1EAD7"/>
                </a:solidFill>
                <a:latin typeface="Calibri"/>
              </a:rPr>
              <a:t>Responsibility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211185"/>
            <a:ext cx="2425199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211185"/>
            <a:ext cx="22423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main.py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6447" y="2211185"/>
            <a:ext cx="8083999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6175" y="2211185"/>
            <a:ext cx="79011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Run everything: checks, seed, self-test, start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2593570"/>
            <a:ext cx="2425199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593570"/>
            <a:ext cx="22423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app.py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6447" y="2593570"/>
            <a:ext cx="8083999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76175" y="2593570"/>
            <a:ext cx="79011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HTTP server - static files + the JSON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2975956"/>
            <a:ext cx="2425199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2975956"/>
            <a:ext cx="22423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login2.py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6447" y="2975956"/>
            <a:ext cx="8083999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6175" y="2975956"/>
            <a:ext cx="79011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Accounts: request, approve/reject, login, lockout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3358341"/>
            <a:ext cx="2425199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3358341"/>
            <a:ext cx="22423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signup.py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66447" y="3358341"/>
            <a:ext cx="8083999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76175" y="3358341"/>
            <a:ext cx="79011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Password scrambling (hash rounds + Fibonacci check)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3740727"/>
            <a:ext cx="2425199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3740727"/>
            <a:ext cx="22423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devices.py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6447" y="3740727"/>
            <a:ext cx="8083999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76175" y="3740727"/>
            <a:ext cx="79011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House state (light/fan/door) + activity 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" y="4123112"/>
            <a:ext cx="2425199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4123112"/>
            <a:ext cx="22423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intent.py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66447" y="4123112"/>
            <a:ext cx="8083999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76175" y="4123112"/>
            <a:ext cx="79011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Plain text -&gt; a structured command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" y="4505498"/>
            <a:ext cx="2425199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4505498"/>
            <a:ext cx="22423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voice.py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66447" y="4505498"/>
            <a:ext cx="8083999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76175" y="4505498"/>
            <a:ext cx="79011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Offline speech in (Vosk) and out (Piper)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" y="4887883"/>
            <a:ext cx="2425199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" y="4887883"/>
            <a:ext cx="22423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voice_setup.py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66447" y="4887883"/>
            <a:ext cx="8083999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76175" y="4887883"/>
            <a:ext cx="79011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One-time model download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" y="5270269"/>
            <a:ext cx="2425199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5270269"/>
            <a:ext cx="22423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seed.py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66447" y="5270269"/>
            <a:ext cx="8083999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76175" y="5270269"/>
            <a:ext cx="79011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Reset databases, create the starter admin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" y="5652654"/>
            <a:ext cx="2425199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" y="5652654"/>
            <a:ext cx="22423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web/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6447" y="5652654"/>
            <a:ext cx="8083999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76175" y="5652654"/>
            <a:ext cx="7901119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index.html, dashboard.html, auth.js, dashboard.js, style.css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State is just three JSON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14 /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data/users/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users.json - approved accounts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pending.json - waiting for approval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settings.json - dev-mode toggle (git-ignored)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Each user: rounds, fib_check, password hash, lock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7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data/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devices.json - the one shared house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light: bool, fan: bool, door_locked: bool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activity: last 12 actions with timestamps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models/ - downloaded Vosk + Piper (git-ignored)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A request, start to finish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15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743200"/>
            <a:ext cx="1737360" cy="118872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B271F"/>
                </a:solidFill>
                <a:latin typeface="Calibri"/>
              </a:rPr>
              <a:t>Browser
fetch()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3337560"/>
            <a:ext cx="109728" cy="0"/>
          </a:xfrm>
          <a:prstGeom prst="line">
            <a:avLst/>
          </a:prstGeom>
          <a:ln w="2032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88336" y="2743200"/>
            <a:ext cx="1737360" cy="1188720"/>
          </a:xfrm>
          <a:prstGeom prst="roundRect">
            <a:avLst>
              <a:gd name="adj" fmla="val 6000"/>
            </a:avLst>
          </a:prstGeom>
          <a:solidFill>
            <a:srgbClr val="313D2D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1EAD7"/>
                </a:solidFill>
                <a:latin typeface="Calibri"/>
              </a:rPr>
              <a:t>app.py
do_GET / do_POST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25696" y="3337560"/>
            <a:ext cx="109728" cy="0"/>
          </a:xfrm>
          <a:prstGeom prst="line">
            <a:avLst/>
          </a:prstGeom>
          <a:ln w="2032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35424" y="2743200"/>
            <a:ext cx="1737360" cy="118872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B271F"/>
                </a:solidFill>
                <a:latin typeface="Calibri"/>
              </a:rPr>
              <a:t>read JSON
body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72784" y="3337560"/>
            <a:ext cx="109728" cy="0"/>
          </a:xfrm>
          <a:prstGeom prst="line">
            <a:avLst/>
          </a:prstGeom>
          <a:ln w="2032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82512" y="2743200"/>
            <a:ext cx="1737360" cy="1188720"/>
          </a:xfrm>
          <a:prstGeom prst="roundRect">
            <a:avLst>
              <a:gd name="adj" fmla="val 6000"/>
            </a:avLst>
          </a:prstGeom>
          <a:solidFill>
            <a:srgbClr val="313D2D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1EAD7"/>
                </a:solidFill>
                <a:latin typeface="Calibri"/>
              </a:rPr>
              <a:t>module
login2 / devices / voice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19872" y="3337560"/>
            <a:ext cx="109728" cy="0"/>
          </a:xfrm>
          <a:prstGeom prst="line">
            <a:avLst/>
          </a:prstGeom>
          <a:ln w="2032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2743200"/>
            <a:ext cx="1737360" cy="118872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B271F"/>
                </a:solidFill>
                <a:latin typeface="Calibri"/>
              </a:rPr>
              <a:t>write
data/*.json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966960" y="3337560"/>
            <a:ext cx="109728" cy="0"/>
          </a:xfrm>
          <a:prstGeom prst="line">
            <a:avLst/>
          </a:prstGeom>
          <a:ln w="2032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76688" y="2743200"/>
            <a:ext cx="1737360" cy="118872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B271F"/>
                </a:solidFill>
                <a:latin typeface="Calibri"/>
              </a:rPr>
              <a:t>JSON
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297680"/>
            <a:ext cx="1050919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1" lang="en-US">
                <a:solidFill>
                  <a:srgbClr val="6F6857"/>
                </a:solidFill>
                <a:latin typeface="Calibri"/>
              </a:rPr>
              <a:t>Threaded server, so two laptops can poke the same house at once. Every write is a full-file JSON dump - simple, and fine at this scale.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The API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16 /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4327317" cy="382385"/>
          </a:xfrm>
          <a:prstGeom prst="rect">
            <a:avLst/>
          </a:prstGeom>
          <a:solidFill>
            <a:srgbClr val="31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28800"/>
            <a:ext cx="4144437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 lang="en-US">
                <a:solidFill>
                  <a:srgbClr val="F1EAD7"/>
                </a:solidFill>
                <a:latin typeface="Calibri"/>
              </a:rPr>
              <a:t>Method +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8565" y="1828800"/>
            <a:ext cx="6181881" cy="382385"/>
          </a:xfrm>
          <a:prstGeom prst="rect">
            <a:avLst/>
          </a:prstGeom>
          <a:solidFill>
            <a:srgbClr val="31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8293" y="1828800"/>
            <a:ext cx="5999001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 lang="en-US">
                <a:solidFill>
                  <a:srgbClr val="F1EAD7"/>
                </a:solidFill>
                <a:latin typeface="Calibri"/>
              </a:rPr>
              <a:t>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211185"/>
            <a:ext cx="4327317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211185"/>
            <a:ext cx="4144437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POST /api/signup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8565" y="2211185"/>
            <a:ext cx="6181881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8293" y="2211185"/>
            <a:ext cx="5999001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Create a pending account request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2593570"/>
            <a:ext cx="4327317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593570"/>
            <a:ext cx="4144437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POST /api/login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8565" y="2593570"/>
            <a:ext cx="6181881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78293" y="2593570"/>
            <a:ext cx="5999001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Check credentials, return a safe user record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2975956"/>
            <a:ext cx="4327317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2975956"/>
            <a:ext cx="4144437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POST /api/pending | approve | reject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8565" y="2975956"/>
            <a:ext cx="6181881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78293" y="2975956"/>
            <a:ext cx="5999001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Admin manages the waiting list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3358341"/>
            <a:ext cx="4327317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3358341"/>
            <a:ext cx="4144437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POST /api/devmode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8565" y="3358341"/>
            <a:ext cx="6181881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78293" y="3358341"/>
            <a:ext cx="5999001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Toggle auto-approval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3740727"/>
            <a:ext cx="4327317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3740727"/>
            <a:ext cx="4144437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GET  /api/devices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8565" y="3740727"/>
            <a:ext cx="6181881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78293" y="3740727"/>
            <a:ext cx="5999001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The whole house state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" y="4123112"/>
            <a:ext cx="4327317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4123112"/>
            <a:ext cx="4144437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POST /api/devices/set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68565" y="4123112"/>
            <a:ext cx="6181881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78293" y="4123112"/>
            <a:ext cx="5999001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Flip one device (or all)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" y="4505498"/>
            <a:ext cx="4327317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4505498"/>
            <a:ext cx="4144437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POST /api/command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68565" y="4505498"/>
            <a:ext cx="6181881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78293" y="4505498"/>
            <a:ext cx="5999001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Typed text -&gt; intent -&gt; house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" y="4887883"/>
            <a:ext cx="4327317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" y="4887883"/>
            <a:ext cx="4144437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GET  /api/voice/status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68565" y="4887883"/>
            <a:ext cx="6181881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78293" y="4887883"/>
            <a:ext cx="5999001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Is the offline engine ready?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1248" y="5270269"/>
            <a:ext cx="4327317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0976" y="5270269"/>
            <a:ext cx="4144437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POST /api/voice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68565" y="5270269"/>
            <a:ext cx="6181881" cy="382385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78293" y="5270269"/>
            <a:ext cx="5999001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Raw mic audio -&gt; text -&gt; house -&gt; spoken reply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" y="5652654"/>
            <a:ext cx="4327317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0976" y="5652654"/>
            <a:ext cx="4144437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POST /api/voice/tts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68565" y="5652654"/>
            <a:ext cx="6181881" cy="382385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78293" y="5652654"/>
            <a:ext cx="5999001" cy="382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Text -&gt; a WAV of the reply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Why no framework, why no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17 /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What we skipped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Flask / FastAPI - not needed for ~12 routes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React / a bundler - the pages are small and static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SQLite / Postgres - state is tiny and rarely written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Docker - it's 'python main.py'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7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What we got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A new teammate reads the whole codebase in an hour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git diff shows exactly what changed in the 'database'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Nothing to install for the core app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The self-test can copy data/ to a temp dir and go wild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18288"/>
          </a:xfrm>
          <a:prstGeom prst="rect">
            <a:avLst/>
          </a:prstGeom>
          <a:solidFill>
            <a:srgbClr val="47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331720"/>
            <a:ext cx="548640" cy="91440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 lang="en-US">
                <a:solidFill>
                  <a:srgbClr val="B25C3F"/>
                </a:solidFill>
                <a:latin typeface="Consola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10509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 lang="en-US">
                <a:solidFill>
                  <a:srgbClr val="F1EAD7"/>
                </a:solidFill>
                <a:latin typeface="Georgia"/>
              </a:rPr>
              <a:t>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77639"/>
            <a:ext cx="1050919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1" lang="en-US">
                <a:solidFill>
                  <a:srgbClr val="B9B09C"/>
                </a:solidFill>
                <a:latin typeface="Calibri"/>
              </a:rPr>
              <a:t>Request -&gt; an admin waves you in -&gt; you're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18 / 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The approval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19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1945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71F"/>
                </a:solidFill>
                <a:latin typeface="Calibri"/>
              </a:rPr>
              <a:t>Sign up
request_account()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1945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71F"/>
                </a:solidFill>
                <a:latin typeface="Calibri"/>
              </a:rPr>
              <a:t>pending.json
waiting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2194560"/>
            <a:ext cx="2468880" cy="1097280"/>
          </a:xfrm>
          <a:prstGeom prst="roundRect">
            <a:avLst>
              <a:gd name="adj" fmla="val 6000"/>
            </a:avLst>
          </a:prstGeom>
          <a:solidFill>
            <a:srgbClr val="313D2D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1EAD7"/>
                </a:solidFill>
                <a:latin typeface="Calibri"/>
              </a:rPr>
              <a:t>users.json
approved =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4114800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6F6857"/>
                </a:solidFill>
                <a:latin typeface="Calibri"/>
              </a:rPr>
              <a:t>reject()
dropped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114800"/>
            <a:ext cx="2468880" cy="100584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2B271F"/>
                </a:solidFill>
                <a:latin typeface="Calibri"/>
              </a:rPr>
              <a:t>login()
session in localStorage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2743200"/>
            <a:ext cx="1005840" cy="0"/>
          </a:xfrm>
          <a:prstGeom prst="line">
            <a:avLst/>
          </a:prstGeom>
          <a:ln w="2032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2743200"/>
            <a:ext cx="1005840" cy="0"/>
          </a:xfrm>
          <a:prstGeom prst="line">
            <a:avLst/>
          </a:prstGeom>
          <a:ln w="20320">
            <a:solidFill>
              <a:srgbClr val="4F6B4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03520" y="3291840"/>
            <a:ext cx="0" cy="822960"/>
          </a:xfrm>
          <a:prstGeom prst="line">
            <a:avLst/>
          </a:prstGeom>
          <a:ln w="20320">
            <a:solidFill>
              <a:srgbClr val="6F685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823960" y="3291840"/>
            <a:ext cx="0" cy="822960"/>
          </a:xfrm>
          <a:prstGeom prst="line">
            <a:avLst/>
          </a:prstGeom>
          <a:ln w="20320">
            <a:solidFill>
              <a:srgbClr val="4F6B4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5212080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1" lang="en-US">
                <a:solidFill>
                  <a:srgbClr val="6F6857"/>
                </a:solidFill>
                <a:latin typeface="Calibri"/>
              </a:rPr>
              <a:t>Developer mode short-circuits the wait: sign-ups land straight in users.json. Handy while building, one toggle on the Invites tab.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Two files, one direction of 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20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pending.json holds people who signed up but can't log in yet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users.json holds approved people - and in this build, approved means admin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approve() pops the record from one file and writes it to the other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login() only ever reads users.json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No 'roles' table, no join - just which file your name is in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SIGNUP.PY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F1EAD7"/>
                </a:solidFill>
                <a:latin typeface="Georgia"/>
              </a:rPr>
              <a:t>Passwords are never stored raw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21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691640"/>
            <a:ext cx="10509199" cy="3840480"/>
          </a:xfrm>
          <a:prstGeom prst="roundRect">
            <a:avLst>
              <a:gd name="adj" fmla="val 6000"/>
            </a:avLst>
          </a:prstGeom>
          <a:solidFill>
            <a:srgbClr val="2E2A22"/>
          </a:solidFill>
          <a:ln w="12700">
            <a:solidFill>
              <a:srgbClr val="47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 bIns="219456"/>
          <a:lstStyle/>
          <a:p>
            <a:pPr algn="ctr"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def password_funct(user_password, rounds=None):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if rounds is None: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    rounds = random.randint(4, 100)      # per-user, saved like a salt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password = user_password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for _ in range(rounds):                  # SHA-256, rounds times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    password = hashlib.sha256(password.encode()).hexdigest()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a, b = 1, 1                               # walk Fibonacci `rounds` steps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for _ in range(rounds - 1):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    a, b = b, a + b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fib_check = hashlib.sha256(str(a).encode()).hexdigest()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return (rounds, fib_check, password)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50992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1" lang="en-US">
                <a:solidFill>
                  <a:srgbClr val="B9B09C"/>
                </a:solidFill>
                <a:latin typeface="Calibri"/>
              </a:rPr>
              <a:t>We store (rounds, fib_check, hash). Login re-runs this with the saved rounds and compares - match on both fingerprints or it's rejected.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Why rounds, why Fibonacci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22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rounds is random per user and saved - so the same password hashes differently for two people (a salt, essentially)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It also makes each check do 4-100 SHA-256 passes - a small, deliberate cost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The Fibonacci hash is a second fingerprint tied to the same rounds number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Both must match on login - a tiny bit of defence in depth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Honest note: this is a learning exercise, not bcrypt / argon2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Login is a small rulebook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23 /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Rejections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Unknown username -&gt; generic 'wrong username or password'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Still in pending.json -&gt; 'waiting for approval'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5 wrong tries -&gt; account locks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7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Ways back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Correct password -&gt; counter resets, lock clears, last_login stamped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Locked? paste the stored hash from users.json as the password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Or an admin calls unlock()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Developer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24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OFF (default) - sign-ups wait for an admin on the Invites tab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ON - sign-ups are auto-approved and can log in immediately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Source of truth: SMARTHOME_DEV_MODE env var, else settings.json, else default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Flippable at runtime: the Invites tab, or POST /api/devmode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The login page shows a badge and relaxes the password minimum when it's 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ACCOUNTS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The Invites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25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Lists everyone in pending.json with Accept / Decline buttons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 badge shows the count; it polls every 8 seconds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Accept -&gt; approve(); the person can log in on their next try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Decline -&gt; reject(); the request is gone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The developer-mode switch lives here too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18288"/>
          </a:xfrm>
          <a:prstGeom prst="rect">
            <a:avLst/>
          </a:prstGeom>
          <a:solidFill>
            <a:srgbClr val="47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331720"/>
            <a:ext cx="548640" cy="91440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 lang="en-US">
                <a:solidFill>
                  <a:srgbClr val="B25C3F"/>
                </a:solidFill>
                <a:latin typeface="Consola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10509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 lang="en-US">
                <a:solidFill>
                  <a:srgbClr val="F1EAD7"/>
                </a:solidFill>
                <a:latin typeface="Georgia"/>
              </a:rPr>
              <a:t>The house &amp; the parser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77639"/>
            <a:ext cx="1050919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1" lang="en-US">
                <a:solidFill>
                  <a:srgbClr val="B9B09C"/>
                </a:solidFill>
                <a:latin typeface="Calibri"/>
              </a:rPr>
              <a:t>From 'turn off the fan' to a flipped 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26 / 59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The house is a 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27 /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Devices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light - on / off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fan - on / off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door_locked - True means locked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7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Activity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A list of the last 12 actions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Each: who did what, an icon key, a HH:MM stamp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New entries go on top; the tail is trimmed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The dashboard renders it as a feed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DEVICES.PY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F1EAD7"/>
                </a:solidFill>
                <a:latin typeface="Georgia"/>
              </a:rPr>
              <a:t>Every change goes through one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28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691640"/>
            <a:ext cx="10509199" cy="3840480"/>
          </a:xfrm>
          <a:prstGeom prst="roundRect">
            <a:avLst>
              <a:gd name="adj" fmla="val 6000"/>
            </a:avLst>
          </a:prstGeom>
          <a:solidFill>
            <a:srgbClr val="2E2A22"/>
          </a:solidFill>
          <a:ln w="12700">
            <a:solidFill>
              <a:srgbClr val="47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 bIns="219456"/>
          <a:lstStyle/>
          <a:p>
            <a:pPr algn="ctr"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def set_device(device, value, who="someone"):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house = _load()                      # read data/devices.json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value = bool(value)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if device == "light":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    house["light"] = value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    _log(house, f"{who} turned the light {'on' if value else 'off'}", "light")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elif device == "fan":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    ...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elif device == "door":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    house["door_locked"] = value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    _log(house, f"{who} {'locked' if value else 'unlocked'} the door", ...)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_save(house)                         # write it back, whole file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return True, 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50992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1" lang="en-US">
                <a:solidFill>
                  <a:srgbClr val="B9B09C"/>
                </a:solidFill>
                <a:latin typeface="Calibri"/>
              </a:rPr>
              <a:t>all_devices() and apply() are thin wrappers over this. One writer, one log call, one save.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INTENT.PY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F1EAD7"/>
                </a:solidFill>
                <a:latin typeface="Georgia"/>
              </a:rPr>
              <a:t>The parser has no ML in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29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691640"/>
            <a:ext cx="10509199" cy="3840480"/>
          </a:xfrm>
          <a:prstGeom prst="roundRect">
            <a:avLst>
              <a:gd name="adj" fmla="val 6000"/>
            </a:avLst>
          </a:prstGeom>
          <a:solidFill>
            <a:srgbClr val="2E2A22"/>
          </a:solidFill>
          <a:ln w="12700">
            <a:solidFill>
              <a:srgbClr val="47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 bIns="219456"/>
          <a:lstStyle/>
          <a:p>
            <a:pPr algn="ctr"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DEVICE_WORDS  = {"light": "light", "lamp": "light", "bulb": "light",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             "fan": "fan", "cooler": "fan",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             "door": "door", "gate": "door", "lock": "door"}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TURN_ON_WORDS  = {"on", "start", "begin", "enable", "activate"}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TURN_OFF_WORDS = {"off", "stop", "disable", "shut", "kill"}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def parse(text):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words = re.sub(r"[^a-z\s]", " ", text.lower()).split()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targets = [DEVICE_WORDS[w] for w in words if w in DEVICE_WORDS]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if word_set &amp; EVERYTHING_WORDS: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    targets = ["light", "fan"]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9A8F76"/>
                </a:solidFill>
                <a:latin typeface="Consolas"/>
              </a:rPr>
              <a:t>    # door has its own lock/unlock words; light+fan look for on vs off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50992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1" lang="en-US">
                <a:solidFill>
                  <a:srgbClr val="B9B09C"/>
                </a:solidFill>
                <a:latin typeface="Calibri"/>
              </a:rPr>
              <a:t>Keyword sets, a few rules, and a friendly 'say' string for every outcome - including the failures.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parse() 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30 /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4003504" cy="566928"/>
          </a:xfrm>
          <a:prstGeom prst="rect">
            <a:avLst/>
          </a:prstGeom>
          <a:solidFill>
            <a:srgbClr val="31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28800"/>
            <a:ext cx="38206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 lang="en-US">
                <a:solidFill>
                  <a:srgbClr val="F1EAD7"/>
                </a:solidFill>
                <a:latin typeface="Calibri"/>
              </a:rPr>
              <a:t>You say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4752" y="1828800"/>
            <a:ext cx="6505694" cy="566928"/>
          </a:xfrm>
          <a:prstGeom prst="rect">
            <a:avLst/>
          </a:prstGeom>
          <a:solidFill>
            <a:srgbClr val="31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4480" y="1828800"/>
            <a:ext cx="632281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 lang="en-US">
                <a:solidFill>
                  <a:srgbClr val="F1EAD7"/>
                </a:solidFill>
                <a:latin typeface="Calibri"/>
              </a:rPr>
              <a:t>It returns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395728"/>
            <a:ext cx="4003504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395728"/>
            <a:ext cx="38206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turn on the light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4752" y="2395728"/>
            <a:ext cx="6505694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54480" y="2395728"/>
            <a:ext cx="632281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action=on, targets=[light]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2962656"/>
            <a:ext cx="4003504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962656"/>
            <a:ext cx="38206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switch off the fan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4752" y="2962656"/>
            <a:ext cx="6505694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4480" y="2962656"/>
            <a:ext cx="632281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action=off, targets=[fan]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3529584"/>
            <a:ext cx="4003504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529584"/>
            <a:ext cx="38206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open the door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4752" y="3529584"/>
            <a:ext cx="6505694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4480" y="3529584"/>
            <a:ext cx="632281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action=unlock, targets=[door]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4096512"/>
            <a:ext cx="4003504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096512"/>
            <a:ext cx="38206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lock the door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4752" y="4096512"/>
            <a:ext cx="6505694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4480" y="4096512"/>
            <a:ext cx="632281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action=lock, targets=[door]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4663440"/>
            <a:ext cx="4003504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663440"/>
            <a:ext cx="38206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turn on everything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4752" y="4663440"/>
            <a:ext cx="6505694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4480" y="4663440"/>
            <a:ext cx="632281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action=on, targets=[light, fan]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" y="5230368"/>
            <a:ext cx="4003504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230368"/>
            <a:ext cx="382062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banana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4752" y="5230368"/>
            <a:ext cx="6505694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54480" y="5230368"/>
            <a:ext cx="632281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ok=False, say='Which device?'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intent -&gt;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31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devices.apply(parsed, who) takes the dict from intent.parse()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action 'lock' / 'unlock' -&gt; set the door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action 'on' / 'off' -&gt; loop the targets, flip light and/or fan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Not understood -&gt; change nothing, return the friendly 'say' line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Always returns (message, house) so the caller can render and speak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Edge cases we handle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32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Empty or gibberish input -&gt; a hint, nothing flips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'everything' means the switchable stuff (light + fan), not the door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Half-written devices.json -&gt; _load() fills in the missing keys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'shut' is in both off-words and close-words - the door branch wins for doors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Two laptops writing at once -&gt; last write wins (acceptable here)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18288"/>
          </a:xfrm>
          <a:prstGeom prst="rect">
            <a:avLst/>
          </a:prstGeom>
          <a:solidFill>
            <a:srgbClr val="47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331720"/>
            <a:ext cx="548640" cy="91440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 lang="en-US">
                <a:solidFill>
                  <a:srgbClr val="B25C3F"/>
                </a:solidFill>
                <a:latin typeface="Consola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10509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 lang="en-US">
                <a:solidFill>
                  <a:srgbClr val="F1EAD7"/>
                </a:solidFill>
                <a:latin typeface="Georgia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77639"/>
            <a:ext cx="1050919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1" lang="en-US">
                <a:solidFill>
                  <a:srgbClr val="B9B09C"/>
                </a:solidFill>
                <a:latin typeface="Calibri"/>
              </a:rPr>
              <a:t>Offline in, offline out, and made to sound human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33 / 59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The bar we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34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377440"/>
            <a:ext cx="3198266" cy="210312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2700">
            <a:solidFill>
              <a:srgbClr val="DDD0B4"/>
            </a:solidFill>
          </a:ln>
          <a:effectLst/>
          <a:effectLst>
            <a:outerShdw blurRad="80000" dist="30000" dir="5400000" rotWithShape="0">
              <a:srgbClr val="2B27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697480"/>
            <a:ext cx="319826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4400" b="1" i="0" lang="en-US">
                <a:solidFill>
                  <a:srgbClr val="B25C3F"/>
                </a:solidFill>
                <a:latin typeface="Georgia"/>
              </a:rP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703320"/>
            <a:ext cx="283250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 i="0" lang="en-US">
                <a:solidFill>
                  <a:srgbClr val="6F6857"/>
                </a:solidFill>
                <a:latin typeface="Calibri"/>
              </a:rPr>
              <a:t>no API keys, no quota, ever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6714" y="2377440"/>
            <a:ext cx="3198266" cy="210312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2700">
            <a:solidFill>
              <a:srgbClr val="DDD0B4"/>
            </a:solidFill>
          </a:ln>
          <a:effectLst/>
          <a:effectLst>
            <a:outerShdw blurRad="80000" dist="30000" dir="5400000" rotWithShape="0">
              <a:srgbClr val="2B27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6714" y="2697480"/>
            <a:ext cx="319826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4400" b="1" i="0" lang="en-US">
                <a:solidFill>
                  <a:srgbClr val="B25C3F"/>
                </a:solidFill>
                <a:latin typeface="Georgi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9594" y="3703320"/>
            <a:ext cx="283250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 i="0" lang="en-US">
                <a:solidFill>
                  <a:srgbClr val="6F6857"/>
                </a:solidFill>
                <a:latin typeface="Calibri"/>
              </a:rPr>
              <a:t>network calls once models are local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2180" y="2377440"/>
            <a:ext cx="3198266" cy="210312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2700">
            <a:solidFill>
              <a:srgbClr val="DDD0B4"/>
            </a:solidFill>
          </a:ln>
          <a:effectLst/>
          <a:effectLst>
            <a:outerShdw blurRad="80000" dist="30000" dir="5400000" rotWithShape="0">
              <a:srgbClr val="2B271F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2180" y="2697480"/>
            <a:ext cx="3198266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4400" b="1" i="0" lang="en-US">
                <a:solidFill>
                  <a:srgbClr val="B25C3F"/>
                </a:solidFill>
                <a:latin typeface="Georgia"/>
              </a:rPr>
              <a:t>~0.5s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5060" y="3703320"/>
            <a:ext cx="283250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600"/>
              </a:spcAft>
            </a:pPr>
            <a:r>
              <a:rPr sz="1250" b="0" i="0" lang="en-US">
                <a:solidFill>
                  <a:srgbClr val="6F6857"/>
                </a:solidFill>
                <a:latin typeface="Calibri"/>
              </a:rPr>
              <a:t>transcribe + reply for a short clip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The voice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35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9202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B271F"/>
                </a:solidFill>
                <a:latin typeface="Calibri"/>
              </a:rPr>
              <a:t>Mic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07208.0" y="2468880.0"/>
            <a:ext cx="169849.75" cy="0.0"/>
          </a:xfrm>
          <a:prstGeom prst="line">
            <a:avLst/>
          </a:prstGeom>
          <a:ln w="1651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77057" y="19202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B271F"/>
                </a:solidFill>
                <a:latin typeface="Calibri"/>
              </a:rPr>
              <a:t>MediaRecorder
webm/opus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43017.75" y="2468880.0"/>
            <a:ext cx="169849.75" cy="0.0"/>
          </a:xfrm>
          <a:prstGeom prst="line">
            <a:avLst/>
          </a:prstGeom>
          <a:ln w="1651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12867" y="19202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B271F"/>
                </a:solidFill>
                <a:latin typeface="Calibri"/>
              </a:rPr>
              <a:t>POST /api/voice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78827.5" y="2468880.0"/>
            <a:ext cx="169849.75" cy="0.0"/>
          </a:xfrm>
          <a:prstGeom prst="line">
            <a:avLst/>
          </a:prstGeom>
          <a:ln w="1651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48677" y="19202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B271F"/>
                </a:solidFill>
                <a:latin typeface="Calibri"/>
              </a:rPr>
              <a:t>ffmpeg
-&gt; 16k mono PCM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14637.25" y="2468880.0"/>
            <a:ext cx="169849.75" cy="0.0"/>
          </a:xfrm>
          <a:prstGeom prst="line">
            <a:avLst/>
          </a:prstGeom>
          <a:ln w="1651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384487" y="19202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313D2D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1EAD7"/>
                </a:solidFill>
                <a:latin typeface="Calibri"/>
              </a:rPr>
              <a:t>Vosk
speech -&gt; text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37490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313D2D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1EAD7"/>
                </a:solidFill>
                <a:latin typeface="Calibri"/>
              </a:rPr>
              <a:t>intent.py / chatbot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07208.0" y="4297680.0"/>
            <a:ext cx="169849.75" cy="0.0"/>
          </a:xfrm>
          <a:prstGeom prst="line">
            <a:avLst/>
          </a:prstGeom>
          <a:ln w="1651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77057" y="37490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B271F"/>
                </a:solidFill>
                <a:latin typeface="Calibri"/>
              </a:rPr>
              <a:t>devices.py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43017.75" y="4297680.0"/>
            <a:ext cx="169849.75" cy="0.0"/>
          </a:xfrm>
          <a:prstGeom prst="line">
            <a:avLst/>
          </a:prstGeom>
          <a:ln w="1651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12867" y="37490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313D2D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1EAD7"/>
                </a:solidFill>
                <a:latin typeface="Calibri"/>
              </a:rPr>
              <a:t>Piper
text -&gt; speech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78827.5" y="4297680.0"/>
            <a:ext cx="169849.75" cy="0.0"/>
          </a:xfrm>
          <a:prstGeom prst="line">
            <a:avLst/>
          </a:prstGeom>
          <a:ln w="1651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248677" y="37490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B271F"/>
                </a:solidFill>
                <a:latin typeface="Calibri"/>
              </a:rPr>
              <a:t>pitch shift
ffmpeg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14637.25" y="4297680.0"/>
            <a:ext cx="169849.75" cy="0.0"/>
          </a:xfrm>
          <a:prstGeom prst="line">
            <a:avLst/>
          </a:prstGeom>
          <a:ln w="16510">
            <a:solidFill>
              <a:srgbClr val="9447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84487" y="3749040"/>
            <a:ext cx="1965960" cy="1097280"/>
          </a:xfrm>
          <a:prstGeom prst="roundRect">
            <a:avLst>
              <a:gd name="adj" fmla="val 6000"/>
            </a:avLst>
          </a:prstGeom>
          <a:solidFill>
            <a:srgbClr val="F1EAD7"/>
          </a:solidFill>
          <a:ln w="15240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0">
                <a:solidFill>
                  <a:srgbClr val="2B271F"/>
                </a:solidFill>
                <a:latin typeface="Calibri"/>
              </a:rPr>
              <a:t>browser plays
the reply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824228.0" y="3017520"/>
            <a:ext cx="8543239.0" cy="731519"/>
          </a:xfrm>
          <a:prstGeom prst="line">
            <a:avLst/>
          </a:prstGeom>
          <a:ln w="20320">
            <a:solidFill>
              <a:srgbClr val="6F6857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VOICE -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Speech to text: Vosk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36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 Kaldi-based recognizer with a 40 MB English model - runs on CPU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Streaming-capable, but we feed it the whole clip at once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Output is lower-case, no punctuation - perfect for keyword matching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The small model alone is so-so on free dictation...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...so we constrain it to the words our commands actually use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VOICE -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Three tricks stacked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37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Grammar lock - build a vocabulary from intent.py and let Vosk pick only from those words. Huge accuracy win for commands.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N-best - ask for the 3 best guesses, take the first that parses as a command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Fuzzy repair - snap near-misses to known words ('fam' -&gt; 'fan') with difflib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Then a free-form pass as a fallback, so the chatbot hook still works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Result: 10/10 commands on clean audio, 12/13 on badly degraded audio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VOICE.PY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F1EAD7"/>
                </a:solidFill>
                <a:latin typeface="Georgia"/>
              </a:rPr>
              <a:t>The grammar builds itself from intent.py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38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691640"/>
            <a:ext cx="10509199" cy="3840480"/>
          </a:xfrm>
          <a:prstGeom prst="roundRect">
            <a:avLst>
              <a:gd name="adj" fmla="val 6000"/>
            </a:avLst>
          </a:prstGeom>
          <a:solidFill>
            <a:srgbClr val="2E2A22"/>
          </a:solidFill>
          <a:ln w="12700">
            <a:solidFill>
              <a:srgbClr val="47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 bIns="219456"/>
          <a:lstStyle/>
          <a:p>
            <a:pPr algn="ctr"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def _command_grammar():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words = set(intent.DEVICE_WORDS)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for s in (intent.TURN_ON_WORDS, intent.TURN_OFF_WORDS,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          intent.OPEN_WORDS, intent.CLOSE_WORDS, intent.EVERYTHING_WORDS):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    words |= set(s)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words |= {"turn", "switch", "the", "a", "please", "my", "to", ...}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return json.dumps([" ".join(sorted(words)), "[unk]"])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9A8F76"/>
                </a:solidFill>
                <a:latin typeface="Consolas"/>
              </a:rPr>
              <a:t># two files that can never drift apart - the parser IS the vocabulary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50992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1" lang="en-US">
                <a:solidFill>
                  <a:srgbClr val="B9B09C"/>
                </a:solidFill>
                <a:latin typeface="Calibri"/>
              </a:rPr>
              <a:t>SMARTHOME_VOICE_GRAMMAR=0 turns it off. voice_setup.py --big swaps in a 128 MB model for better free dictation (no grammar).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VOICE -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Text to speech: Piper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39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 neural TTS - the voice is genuinely natural, not the old robotic beep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One 63 MB ONNX voice model, synthesises faster than real time on CPU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We pick a warm US-English voice (lessac, medium quality)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SynthesisConfig tunes pace and the amount of prosody variation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Output is a plain 16-bit WAV the browser plays with no plugin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VOICE.PY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F1EAD7"/>
                </a:solidFill>
                <a:latin typeface="Georgia"/>
              </a:rPr>
              <a:t>A touch of pitch for warmth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40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691640"/>
            <a:ext cx="10509199" cy="3840480"/>
          </a:xfrm>
          <a:prstGeom prst="roundRect">
            <a:avLst>
              <a:gd name="adj" fmla="val 6000"/>
            </a:avLst>
          </a:prstGeom>
          <a:solidFill>
            <a:srgbClr val="2E2A22"/>
          </a:solidFill>
          <a:ln w="12700">
            <a:solidFill>
              <a:srgbClr val="47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 bIns="219456"/>
          <a:lstStyle/>
          <a:p>
            <a:pPr algn="ctr"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TTS_PITCH = float(os.environ.get("SMARTHOME_TTS_PITCH", "1.06"))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def _pitch_shift(wav_bytes, factor):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9A8F76"/>
                </a:solidFill>
                <a:latin typeface="Consolas"/>
              </a:rPr>
              <a:t>    # raise pitch WITHOUT speeding the speech up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af = f"asetrate={rate}*{factor},aresample={rate},atempo={1/factor:.5f}"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    return ffmpeg(["-i","pipe:0","-af",af,"-f","wav","pipe:1"], wav_bytes)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9A8F76"/>
                </a:solidFill>
                <a:latin typeface="Consolas"/>
              </a:rPr>
              <a:t># 1.00 = Piper as-is,  1.06 = a little warmer / less flat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50992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1" lang="en-US">
                <a:solidFill>
                  <a:srgbClr val="B9B09C"/>
                </a:solidFill>
                <a:latin typeface="Calibri"/>
              </a:rPr>
              <a:t>Small shift only. Piper already sounds human; this just lifts it off the floor. Tunable per deployment.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VOICE -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Command first, chat second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41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transcribe() -&gt; answer(text, who)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If intent.parse() succeeds -&gt; do it, speak the confirmation ('device')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If not, and SMARTHOME_CHATBOT_URL is set -&gt; ask it, speak the reply ('chat')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Otherwise -&gt; a short 'I can do lights, fan and the door' line ('unknown')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chatbot_reply() is also where a separate assistant's router can drop in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VOICE - 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What the browser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42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getUserMedia with noise suppression + echo cancel + auto gain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MediaRecorder captures webm/opus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 Web Audio meter watches the level - auto-stops ~1.6s after you finish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10-second hard cap as a backstop; tap the mic again to stop early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 big red 'Listening...' pop-up, then amber 'Thinking...' while it works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VOICE -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It degrades, it doesn't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43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GET /api/voice/status tells the page what the server can do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Models + ffmpeg present -&gt; the offline engine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Missing -&gt; the browser's own Web Speech API (needs Chrome + internet)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Neither -&gt; the mic disables itself, typing still works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main.py auto-switches into .venv if it has the voice packages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ONE-TIME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F1EAD7"/>
                </a:solidFill>
                <a:latin typeface="Georgia"/>
              </a:rPr>
              <a:t>Getting the offline engine running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44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691640"/>
            <a:ext cx="10509199" cy="3840480"/>
          </a:xfrm>
          <a:prstGeom prst="roundRect">
            <a:avLst>
              <a:gd name="adj" fmla="val 6000"/>
            </a:avLst>
          </a:prstGeom>
          <a:solidFill>
            <a:srgbClr val="2E2A22"/>
          </a:solidFill>
          <a:ln w="12700">
            <a:solidFill>
              <a:srgbClr val="47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 bIns="219456"/>
          <a:lstStyle/>
          <a:p>
            <a:pPr algn="ctr"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python -m venv .venv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.venv/bin/pip install -r requirements.txt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.venv/bin/python voice_setup.py          # ~100 MB of models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sudo pacman -S ffmpeg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.venv/bin/python main.py                  # or just: python main.py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9A8F76"/>
                </a:solidFill>
                <a:latin typeface="Consolas"/>
              </a:rPr>
              <a:t>#   [main] using .venv/bin/python for offline 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50992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1" lang="en-US">
                <a:solidFill>
                  <a:srgbClr val="B9B09C"/>
                </a:solidFill>
                <a:latin typeface="Calibri"/>
              </a:rPr>
              <a:t>Models land in data/models/ (git-ignored). Everything after is offline.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18288"/>
          </a:xfrm>
          <a:prstGeom prst="rect">
            <a:avLst/>
          </a:prstGeom>
          <a:solidFill>
            <a:srgbClr val="47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331720"/>
            <a:ext cx="548640" cy="91440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 lang="en-US">
                <a:solidFill>
                  <a:srgbClr val="B25C3F"/>
                </a:solidFill>
                <a:latin typeface="Consola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10509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 lang="en-US">
                <a:solidFill>
                  <a:srgbClr val="F1EAD7"/>
                </a:solidFill>
                <a:latin typeface="Georgia"/>
              </a:rPr>
              <a:t>The front-end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77639"/>
            <a:ext cx="1050919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1" lang="en-US">
                <a:solidFill>
                  <a:srgbClr val="B9B09C"/>
                </a:solidFill>
                <a:latin typeface="Calibri"/>
              </a:rPr>
              <a:t>Vanilla JS, a warm theme, small touches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45 / 59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The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46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Command panel - mic + a text box, both go to the same place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Three device cards with their own icon, state pill and animation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Quick controls - everything on / off, lock the door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The activity feed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Invites tab for admins, with the pending list and dev-mode toggle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Paper and 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47 /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The look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One accent colour - terracotta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Serif body, monospace for labels and log times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Soft shadows, rounded cards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7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Motion with meaning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Light flickers on, then glows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Fan blades spin while it runs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The bolt clunks across when the door locks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Room goes dark when the light is off - the page follows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Two small touches on the login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48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Arrows scattered on the brand panel that swing to point at your cursor (atan2 on mousemove, a soft ease so they glide)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 password strength meter on sign-up - weak / fair / good / strong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Score = length + character-class mix, minus points for '1234'-style inputs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Weak passwords are blocked unless developer mode is on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Staying in 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49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No websockets - the dashboard polls GET /api/devices every 5 seconds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Renders only what changed, so animations don't re-fire on every poll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The pending list polls every 8 seconds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Toggle a device on one laptop, the other catches up within 5s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Good enough for a demo; a push channel is on the roadmap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18288"/>
          </a:xfrm>
          <a:prstGeom prst="rect">
            <a:avLst/>
          </a:prstGeom>
          <a:solidFill>
            <a:srgbClr val="47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331720"/>
            <a:ext cx="548640" cy="91440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 lang="en-US">
                <a:solidFill>
                  <a:srgbClr val="B25C3F"/>
                </a:solidFill>
                <a:latin typeface="Consola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10509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 lang="en-US">
                <a:solidFill>
                  <a:srgbClr val="F1EAD7"/>
                </a:solidFill>
                <a:latin typeface="Georgia"/>
              </a:rPr>
              <a:t>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77639"/>
            <a:ext cx="1050919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1" lang="en-US">
                <a:solidFill>
                  <a:srgbClr val="B9B09C"/>
                </a:solidFill>
                <a:latin typeface="Calibri"/>
              </a:rPr>
              <a:t>Tests, fixes, and honest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50 / 59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MAIN.PY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F1EAD7"/>
                </a:solidFill>
                <a:latin typeface="Georgia"/>
              </a:rPr>
              <a:t>The self-test runs on a copy of your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51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691640"/>
            <a:ext cx="10509199" cy="3840480"/>
          </a:xfrm>
          <a:prstGeom prst="roundRect">
            <a:avLst>
              <a:gd name="adj" fmla="val 6000"/>
            </a:avLst>
          </a:prstGeom>
          <a:solidFill>
            <a:srgbClr val="2E2A22"/>
          </a:solidFill>
          <a:ln w="12700">
            <a:solidFill>
              <a:srgbClr val="47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 bIns="219456"/>
          <a:lstStyle/>
          <a:p>
            <a:pPr algn="ctr"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@contextlib.contextmanager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7C98C"/>
                </a:solidFill>
                <a:latin typeface="Consolas"/>
              </a:rPr>
              <a:t>def sandboxed_data():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tmp = tempfile.mkdtemp(prefix="smarthome-selftest-")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shutil.copytree("data", os.path.join(tmp, "data"))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9A8F76"/>
                </a:solidFill>
                <a:latin typeface="Consolas"/>
              </a:rPr>
              <a:t>    # repoint every module's file paths at the copy...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   yield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9A8F76"/>
                </a:solidFill>
                <a:latin typeface="Consolas"/>
              </a:rPr>
              <a:t>    # ...then put them back and delete the copy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9A8F76"/>
                </a:solidFill>
                <a:latin typeface="Consolas"/>
              </a:rPr>
              <a:t># so the test can create users, flip devices, lock accounts - safely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50992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1" lang="en-US">
                <a:solidFill>
                  <a:srgbClr val="B9B09C"/>
                </a:solidFill>
                <a:latin typeface="Calibri"/>
              </a:rPr>
              <a:t>python main.py --check runs it and exits. It also runs on every normal start.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What the suite covers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52 /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Green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Password scramble round-trips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intent.parse - 5 phrases + 2 rejects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devices.apply / set_device round-trip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request -&gt; approve -&gt; login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voice status + a live STT/TTS round trip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70167" y="1828800"/>
            <a:ext cx="457200" cy="6400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7" y="1965960"/>
            <a:ext cx="4980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 i="0" lang="en-US">
                <a:solidFill>
                  <a:srgbClr val="3D4B38"/>
                </a:solidFill>
                <a:latin typeface="Georgia"/>
              </a:rPr>
              <a:t>Also checked by hand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468880"/>
            <a:ext cx="4980279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Every API endpoint via curl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Login lockout counter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Voice on clean + degraded audio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Fallback when models are absent</a:t>
            </a:r>
          </a:p>
          <a:p>
            <a:pPr>
              <a:lnSpc>
                <a:spcPct val="113000"/>
              </a:lnSpc>
              <a:spcAft>
                <a:spcPts val="800"/>
              </a:spcAft>
              <a:buClr>
                <a:srgbClr val="B25C3F"/>
              </a:buClr>
              <a:buFont typeface="Arial"/>
              <a:buChar char="▪"/>
            </a:pPr>
            <a:r>
              <a:rPr sz="1400" b="0">
                <a:solidFill>
                  <a:srgbClr val="2B271F"/>
                </a:solidFill>
                <a:latin typeface="Calibri"/>
              </a:rPr>
              <a:t>The server starts under both Pythons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The bug we found on the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53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adminconnection.py - an older, parallel auth system, still in the repo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It used a different users.json layout and single-SHA-256 passwords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Nothing imported it - but running it would rewrite users.json into a shape login2.py can't read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Moved to archive/ with a note. One landmine defused.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What it isn't (yet)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54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No real hardware - the devices are state in a JSON file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Passwords use a learning-grade scheme, not argon2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Every approved user is a full admin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HTTP only, single machine, no rate limiting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Voice is English-only and command-shaped without the chatbot wired in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1695" cy="18288"/>
          </a:xfrm>
          <a:prstGeom prst="rect">
            <a:avLst/>
          </a:prstGeom>
          <a:solidFill>
            <a:srgbClr val="474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" y="2331720"/>
            <a:ext cx="548640" cy="91440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2514600"/>
            <a:ext cx="1050919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1" i="0" lang="en-US">
                <a:solidFill>
                  <a:srgbClr val="B25C3F"/>
                </a:solidFill>
                <a:latin typeface="Consola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71800"/>
            <a:ext cx="1050919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 lang="en-US">
                <a:solidFill>
                  <a:srgbClr val="F1EAD7"/>
                </a:solidFill>
                <a:latin typeface="Georgia"/>
              </a:rPr>
              <a:t>Where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77639"/>
            <a:ext cx="1050919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0" i="1" lang="en-US">
                <a:solidFill>
                  <a:srgbClr val="B9B09C"/>
                </a:solidFill>
                <a:latin typeface="Calibri"/>
              </a:rPr>
              <a:t>From prototype to something you'd run at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55 / 59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The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56 /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2741530" cy="566928"/>
          </a:xfrm>
          <a:prstGeom prst="rect">
            <a:avLst/>
          </a:prstGeom>
          <a:solidFill>
            <a:srgbClr val="31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828800"/>
            <a:ext cx="255865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 lang="en-US">
                <a:solidFill>
                  <a:srgbClr val="F1EAD7"/>
                </a:solidFill>
                <a:latin typeface="Calibri"/>
              </a:rPr>
              <a:t>Area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2778" y="1828800"/>
            <a:ext cx="7767668" cy="566928"/>
          </a:xfrm>
          <a:prstGeom prst="rect">
            <a:avLst/>
          </a:prstGeom>
          <a:solidFill>
            <a:srgbClr val="31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2506" y="1828800"/>
            <a:ext cx="758478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 i="0" lang="en-US">
                <a:solidFill>
                  <a:srgbClr val="F1EAD7"/>
                </a:solidFill>
                <a:latin typeface="Calibri"/>
              </a:rPr>
              <a:t>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395728"/>
            <a:ext cx="2741530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395728"/>
            <a:ext cx="255865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Hardware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2778" y="2395728"/>
            <a:ext cx="7767668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2506" y="2395728"/>
            <a:ext cx="758478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MQTT / Home Assistant bridge behind devices.py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2962656"/>
            <a:ext cx="2741530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962656"/>
            <a:ext cx="255865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Voice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2778" y="2962656"/>
            <a:ext cx="7767668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92506" y="2962656"/>
            <a:ext cx="758478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A wake word ('hey house') so there's no button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3529584"/>
            <a:ext cx="2741530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529584"/>
            <a:ext cx="255865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Accounts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2778" y="3529584"/>
            <a:ext cx="7767668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2506" y="3529584"/>
            <a:ext cx="758478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Real password hashing, proper roles, HTTPS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4096512"/>
            <a:ext cx="2741530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096512"/>
            <a:ext cx="255865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Realtime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2778" y="4096512"/>
            <a:ext cx="7767668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2506" y="4096512"/>
            <a:ext cx="758478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Server-sent events instead of polling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4663440"/>
            <a:ext cx="2741530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4663440"/>
            <a:ext cx="255865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Multi-home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82778" y="4663440"/>
            <a:ext cx="7767668" cy="566928"/>
          </a:xfrm>
          <a:prstGeom prst="rect">
            <a:avLst/>
          </a:prstGeom>
          <a:solidFill>
            <a:srgbClr val="FDF9EF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2506" y="4663440"/>
            <a:ext cx="758478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Namespaced houses, invite links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" y="5230368"/>
            <a:ext cx="2741530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5230368"/>
            <a:ext cx="255865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onsolas"/>
              </a:rPr>
              <a:t>Chatbot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82778" y="5230368"/>
            <a:ext cx="7767668" cy="566928"/>
          </a:xfrm>
          <a:prstGeom prst="rect">
            <a:avLst/>
          </a:prstGeom>
          <a:solidFill>
            <a:srgbClr val="F1EAD7"/>
          </a:solidFill>
          <a:ln w="9525">
            <a:solidFill>
              <a:srgbClr val="DDD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92506" y="5230368"/>
            <a:ext cx="758478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 lang="en-US">
                <a:solidFill>
                  <a:srgbClr val="2B271F"/>
                </a:solidFill>
                <a:latin typeface="Calibri"/>
              </a:rPr>
              <a:t>Wire the assistant router into chatbot_reply()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9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313D2D"/>
                </a:solidFill>
                <a:latin typeface="Georgia"/>
              </a:rPr>
              <a:t>What we took 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6F6857"/>
                </a:solidFill>
                <a:latin typeface="Consolas"/>
              </a:rPr>
              <a:t>57 /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783080"/>
            <a:ext cx="10509199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The standard library goes further than you'd think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A constrained vocabulary beats a bigger model for a fixed command set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'Degrade, don't break' - every layer has a fallback and the demo survives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Keeping state as readable JSON made debugging almost pleasant</a:t>
            </a:r>
          </a:p>
          <a:p>
            <a:pPr>
              <a:lnSpc>
                <a:spcPct val="113000"/>
              </a:lnSpc>
              <a:spcAft>
                <a:spcPts val="1000"/>
              </a:spcAft>
              <a:buClr>
                <a:srgbClr val="B25C3F"/>
              </a:buClr>
              <a:buFont typeface="Arial"/>
              <a:buChar char="▪"/>
            </a:pPr>
            <a:r>
              <a:rPr sz="1700" b="0">
                <a:solidFill>
                  <a:srgbClr val="2B271F"/>
                </a:solidFill>
                <a:latin typeface="Calibri"/>
              </a:rPr>
              <a:t>Small touches (a glide on the arrows, a warm pitch) are cheap and land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03504"/>
            <a:ext cx="82296" cy="566928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5091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1" i="0" lang="en-US">
                <a:solidFill>
                  <a:srgbClr val="94472E"/>
                </a:solidFill>
                <a:latin typeface="Consolas"/>
              </a:rPr>
              <a:t>TRY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713232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i="0" lang="en-US">
                <a:solidFill>
                  <a:srgbClr val="F1EAD7"/>
                </a:solidFill>
                <a:latin typeface="Georgia"/>
              </a:rPr>
              <a:t>Five minutes to a talking house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58 /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691640"/>
            <a:ext cx="10509199" cy="3840480"/>
          </a:xfrm>
          <a:prstGeom prst="roundRect">
            <a:avLst>
              <a:gd name="adj" fmla="val 6000"/>
            </a:avLst>
          </a:prstGeom>
          <a:solidFill>
            <a:srgbClr val="2E2A22"/>
          </a:solidFill>
          <a:ln w="12700">
            <a:solidFill>
              <a:srgbClr val="4740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 bIns="219456"/>
          <a:lstStyle/>
          <a:p>
            <a:pPr algn="ctr"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git clone &lt;repo&gt; &amp;&amp; cd Iron-Titans-dev-strom-public-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python main.py                     # open http://localhost:8000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9A8F76"/>
                </a:solidFill>
                <a:latin typeface="Consolas"/>
              </a:rPr>
              <a:t>#   log in:  admin / admin123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 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9A8F76"/>
                </a:solidFill>
                <a:latin typeface="Consolas"/>
              </a:rPr>
              <a:t># optional - offline voice: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python -m venv .venv &amp;&amp; .venv/bin/pip install -r requirements.txt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.venv/bin/python voice_setup.py</a:t>
            </a:r>
          </a:p>
          <a:p>
            <a:pPr>
              <a:lnSpc>
                <a:spcPct val="116000"/>
              </a:lnSpc>
            </a:pPr>
            <a:r>
              <a:rPr sz="1300">
                <a:solidFill>
                  <a:srgbClr val="ECE4D3"/>
                </a:solidFill>
                <a:latin typeface="Consolas"/>
              </a:rPr>
              <a:t>python main.py                     # mic now uses Vosk + Piper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50992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 i="1" lang="en-US">
                <a:solidFill>
                  <a:srgbClr val="B9B09C"/>
                </a:solidFill>
                <a:latin typeface="Calibri"/>
              </a:rPr>
              <a:t>Then click the mic and say "turn on the light".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1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25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377440"/>
            <a:ext cx="1050919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5400" b="1" i="0" lang="en-US">
                <a:solidFill>
                  <a:srgbClr val="F1EAD7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566160"/>
            <a:ext cx="1050919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 i="1" lang="en-US">
                <a:solidFill>
                  <a:srgbClr val="C7BEAA"/>
                </a:solidFill>
                <a:latin typeface="Calibri"/>
              </a:rPr>
              <a:t>Questions?  -  and yes, it works offline.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120640"/>
            <a:ext cx="105091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0" lang="en-US">
                <a:solidFill>
                  <a:srgbClr val="8A8270"/>
                </a:solidFill>
                <a:latin typeface="Consolas"/>
              </a:rPr>
              <a:t>Pranjal  -  Samarpreet  -  Ekamjot  -  Amrit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008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SmartHome  -  Iron Titans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0287" y="640080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2000"/>
              </a:lnSpc>
              <a:spcAft>
                <a:spcPts val="600"/>
              </a:spcAft>
            </a:pPr>
            <a:r>
              <a:rPr sz="950" b="0" i="0" lang="en-US">
                <a:solidFill>
                  <a:srgbClr val="8A8270"/>
                </a:solidFill>
                <a:latin typeface="Consolas"/>
              </a:rPr>
              <a:t>59 / 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